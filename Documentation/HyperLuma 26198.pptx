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007" autoAdjust="0"/>
  </p:normalViewPr>
  <p:slideViewPr>
    <p:cSldViewPr snapToGrid="0" snapToObjects="1">
      <p:cViewPr>
        <p:scale>
          <a:sx n="75" d="100"/>
          <a:sy n="75" d="100"/>
        </p:scale>
        <p:origin x="974" y="-1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56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66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AF16-1D52-4BDA-9079-44058B001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10946-E72D-4B9F-8302-5AE17B815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CB022-7D6E-493E-933E-757C4EF77E9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60792E3-D524-454C-8AFD-A91972900BCB}" type="datetime1">
              <a:t>9/22/2026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496F7-AD16-46C2-BA24-4BDD50748F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491A1-E535-4580-BA12-EAF84FF875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5B7E1BAA-A38D-40DE-B22C-DF9BD7D820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C153D-8654-49FF-B289-5F2B0497E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AF0BC-C075-43EB-A60F-0899FF26D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42D4D-0837-4417-965A-8FF4B7E255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08B7524-32A2-4C20-A58C-BC3BAA1042FC}" type="datetime1">
              <a:t>9/22/2026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B5EB2-AF61-48E9-90DF-9D5BFE5906D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2723D-F9D5-4C1C-8EAA-1E57C923FF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77C3CE7-23F7-4828-823C-E0205DF2C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73B0-FA89-43F7-9E09-49264CC5B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37AFE-BE2B-45B3-9542-4F7735FA8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CB312-3E39-4DCE-B221-E5641B5549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E994447-D6B2-43BB-A877-57F1A267B999}" type="datetime1">
              <a:t>9/22/2026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2B32D-6B63-4593-93B5-CAF0244B8B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611AF-86BA-45B5-BC25-2A52D333C2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41DB31D2-2A87-4F4C-A9AD-05C6CC2B321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EE886-F9DF-4CB0-9596-E77EC20A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3C711-80D0-4D41-BC52-E7CFD4B69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D0CF6-E6F6-4407-9765-32B20465F95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3B28265-441A-415E-B97A-EC2057CACD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8920E16-BD35-483C-AA6B-346FC7E46DEA}" type="datetime1">
              <a:t>9/22/2026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DCD79EA-239A-4AF6-A04F-850F9B4A01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BA3FCA7-B7FF-4550-A84F-84946AEC02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1FC16D9-1635-4844-816A-0A8A2160FA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FDD26-CF25-440B-B4A7-FA12CDB4C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5413D-85BE-4C8B-809F-1CB6168CB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D9F33-A742-41AD-85E5-3BDE155482A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F7C8A3-B644-4E53-BE7F-798B1F9960A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CBB5D-20F3-4C59-8C4C-53024C6EC69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CB02F3F-E4A4-45FE-9E66-5B822D38F5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EAC6F8-5103-4FC0-A69E-5C6AE6469DA8}" type="datetime1">
              <a:t>9/22/2026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DBC81C4-5C30-4B39-B807-A9D99C5770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57C961-F3F2-452B-8F90-4C0741E2A2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1C4100A-98DE-4944-910A-A93F5CA9F7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6895-7DFB-4BBE-9C18-8831BDC5B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D1474EF-B841-4B18-B615-3EF70FD09A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60C6921-0627-4C8F-83D5-0CF936D2FFDD}" type="datetime1">
              <a:t>9/22/2026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F12B487-1982-4616-A809-4ACA437029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C53E71-BF54-4529-87AE-8082871911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A63342B-5A73-45DC-864D-086DE78037E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B11BAE-21D6-4729-ACFE-E102B8E3367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F08AD7-8103-40F8-983C-E2BA6BB9CBE0}" type="datetime1">
              <a:t>9/22/2026</a:t>
            </a:fld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00D8700-B0A7-4B90-B34C-588862AB02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1F7A1C-3C71-4869-8FF0-9B5BE9DBB7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B635AFB3-1ACD-44AC-8702-86B1729DF03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5D6A6-C564-4F06-A7C5-30E8E696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1151F-7237-4569-B2F7-6CB38F0A7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E912-0D76-4D42-B866-EAF4A2B694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0112E4A-8E98-4295-B84E-0AE1CC3CD3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DF8C06B4-9380-4A4D-AF49-A3596E17DAF5}" type="datetime1">
              <a:t>9/22/2026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40AC216-2451-48D4-852B-0915DB2D84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162657E-620E-4745-8878-0873180464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CF15F3-5E77-4C57-9E21-50D6D1D6C02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68571-5703-4027-89EA-13295D6E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263196-DE41-43A5-A0D2-854222A47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B405C-B377-4496-8832-56B318075AB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090CF13-68CF-4133-8DFE-B62DBAB957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F7FDEF1-C582-4E22-9E77-D68326471F28}" type="datetime1">
              <a:t>9/22/2026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F15FDA-CEF3-4530-87F4-A455C58EC3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736E8C-0E59-4003-A428-09DB721698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242169A-B3C7-4FB6-967F-AF95F4EB33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13DED-C3E2-47CB-B7C1-8560933A5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4EAB6-75A0-45E9-875D-A5EB8B748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15A44-C7D7-4E33-80C5-714553B77B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3C3A68-6922-42D3-8905-ECC2D82A3469}" type="datetime1">
              <a:t>9/22/2026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338D3-C019-4178-92D0-0BB75ACF525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1D35B-24C0-4949-895C-038B32AF2A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94FDD027-5576-4F27-AAB6-1D994836EE7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7DBE9-2117-40A0-84E0-566E84C8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A36FD-ED7C-4C01-A132-20FC2B250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BD679-12CF-4008-819D-9F3F71D0655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B69E9F4-7604-4950-A8B2-8ACDEDB1506E}" type="datetime1">
              <a:t>9/22/2026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9A134-98D6-42FA-BFB5-24EAEFA8B4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3204D-B0C0-498F-B184-2F0D3E7D30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957CE61-8714-431B-A40A-01B1C5541AB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B2D150B-E71C-415D-82D0-B2F0ED5A6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70859C9-83C1-41D6-8A59-9F7343202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9D26E-7475-410E-AE7D-743EFC5C071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780A9602-A9A9-453F-AEF1-37B5837E02CD}" type="datetime1">
              <a:t>9/22/2026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EA075-AB6B-4A1E-A344-8832FEAF761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B80A3-BC6D-4A77-B679-01EABF17285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atents.google.com/patent/US12602843B2/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46520" y="5074920"/>
            <a:ext cx="38404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5A6771"/>
                </a:solidFill>
                <a:latin typeface="Aptos"/>
              </a:rPr>
              <a:t>AI-assisted screening / decision support</a:t>
            </a:r>
            <a:br>
              <a:rPr dirty="0"/>
            </a:br>
            <a:r>
              <a:rPr dirty="0"/>
              <a:t>—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C1E4A858-2306-8D4B-B107-88BED085CCEA}"/>
              </a:ext>
            </a:extLst>
          </p:cNvPr>
          <p:cNvSpPr txBox="1"/>
          <p:nvPr/>
        </p:nvSpPr>
        <p:spPr>
          <a:xfrm>
            <a:off x="654512" y="1012343"/>
            <a:ext cx="6200379" cy="5409879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SIH26198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Student Innovation-Cutting-edge technology in these sectors continues to be in demand. Recent shifts in healthcare trends, growing populations also present an array of opportunities for innovation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 - MedTech /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BioTech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/ 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ID  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HyperLuma</a:t>
            </a:r>
            <a:endParaRPr lang="en-IN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93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875F9F3-0611-48EB-9860-A897F07081B9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254AF16B-671A-4B31-B3D6-EE14C81CB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5" y="285750"/>
            <a:ext cx="7715250" cy="714375"/>
          </a:xfrm>
        </p:spPr>
        <p:txBody>
          <a:bodyPr/>
          <a:lstStyle/>
          <a:p>
            <a:pPr>
              <a:buNone/>
              <a:defRPr sz="29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IN" sz="2925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SAVE (Spectrum-Aided Vision Enhancer)</a:t>
            </a:r>
            <a:endParaRPr sz="2925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16DAE-5500-4AEC-B219-E34CB5B8D5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4135271-732F-4EB8-982F-EB2E6CD04CA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 sz="1275">
                <a:solidFill>
                  <a:srgbClr val="162B3C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>
                <a:solidFill>
                  <a:srgbClr val="162B3C"/>
                </a:solidFill>
                <a:latin typeface="Arial"/>
                <a:cs typeface="Arial"/>
              </a:rPr>
              <a:t>HYPERLUMA</a:t>
            </a:r>
            <a:endParaRPr lang="en-IN" sz="1400" b="1" dirty="0"/>
          </a:p>
        </p:txBody>
      </p:sp>
      <p:pic>
        <p:nvPicPr>
          <p:cNvPr id="15379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A1F96D-A6AB-375F-78B7-026E8576C5E0}"/>
              </a:ext>
            </a:extLst>
          </p:cNvPr>
          <p:cNvSpPr txBox="1"/>
          <p:nvPr/>
        </p:nvSpPr>
        <p:spPr>
          <a:xfrm>
            <a:off x="63431" y="1212737"/>
            <a:ext cx="594180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Reports indicate that in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experienced endoscopists </a:t>
            </a:r>
            <a:r>
              <a:rPr lang="en-IN" dirty="0"/>
              <a:t>show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significantly lower diagnostic sensitivity, sometimes as low as </a:t>
            </a:r>
            <a:r>
              <a:rPr lang="en-IN" sz="1800" b="1" i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53% under narrow-band imaging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for high-grade squamous intraepithelial lesions, which indicates that </a:t>
            </a:r>
            <a:r>
              <a:rPr lang="en-IN" sz="1800" b="1" i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white light imaging would report even lower sensitivity </a:t>
            </a:r>
            <a:r>
              <a:rPr lang="en-IN" b="0" i="0" dirty="0"/>
              <a:t>[1]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According to a survey, o</a:t>
            </a:r>
            <a:r>
              <a:rPr lang="en-IN" dirty="0"/>
              <a:t>nly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58.5% of endoscopists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dirty="0"/>
              <a:t>had received training in the detection of premalignant upper gastro‐intestinal lesions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The </a:t>
            </a:r>
            <a:r>
              <a:rPr lang="en-IN" sz="1800" b="1" i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5-year survival rate</a:t>
            </a:r>
            <a:r>
              <a:rPr lang="en-IN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 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for 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+mn-lt"/>
              </a:rPr>
              <a:t>Esophageal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cancer is around </a:t>
            </a:r>
            <a:r>
              <a:rPr lang="en-IN" sz="1800" b="1" i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20%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which makes early detection even more crucia</a:t>
            </a:r>
            <a:r>
              <a:rPr lang="en-IN" dirty="0"/>
              <a:t>l [2].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Video Capsule Endoscopy is a emerging non-invasive technology, but it’s major flaw is the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size constrain</a:t>
            </a:r>
            <a:r>
              <a:rPr lang="en-IN" dirty="0"/>
              <a:t>, which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does not allow hardware integration of NBI </a:t>
            </a:r>
            <a:r>
              <a:rPr lang="en-IN" dirty="0"/>
              <a:t>[3].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Therefore in this study we have developed a software based alternative called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SAVE (Spectrum-Aided Vision Enhancer)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dirty="0"/>
              <a:t>for reconstructing NBI using hyperspectral imaging.</a:t>
            </a:r>
          </a:p>
        </p:txBody>
      </p:sp>
      <p:sp>
        <p:nvSpPr>
          <p:cNvPr id="8" name="Freeform 27">
            <a:extLst>
              <a:ext uri="{FF2B5EF4-FFF2-40B4-BE49-F238E27FC236}">
                <a16:creationId xmlns:a16="http://schemas.microsoft.com/office/drawing/2014/main" id="{5F000C1E-41EA-D615-9A78-598DA0EAC52D}"/>
              </a:ext>
            </a:extLst>
          </p:cNvPr>
          <p:cNvSpPr/>
          <p:nvPr/>
        </p:nvSpPr>
        <p:spPr>
          <a:xfrm>
            <a:off x="9169896" y="1392029"/>
            <a:ext cx="2727960" cy="2148824"/>
          </a:xfrm>
          <a:custGeom>
            <a:avLst/>
            <a:gdLst/>
            <a:ahLst/>
            <a:cxnLst/>
            <a:rect l="l" t="t" r="r" b="b"/>
            <a:pathLst>
              <a:path w="7393940" h="5557520">
                <a:moveTo>
                  <a:pt x="0" y="0"/>
                </a:moveTo>
                <a:lnTo>
                  <a:pt x="7393940" y="0"/>
                </a:lnTo>
                <a:lnTo>
                  <a:pt x="7393940" y="5557520"/>
                </a:lnTo>
                <a:lnTo>
                  <a:pt x="0" y="555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471" t="-459" r="-10" b="45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Freeform 26">
            <a:extLst>
              <a:ext uri="{FF2B5EF4-FFF2-40B4-BE49-F238E27FC236}">
                <a16:creationId xmlns:a16="http://schemas.microsoft.com/office/drawing/2014/main" id="{03C9FEC8-E482-07CA-F0C5-B3DB7C8741D1}"/>
              </a:ext>
            </a:extLst>
          </p:cNvPr>
          <p:cNvSpPr/>
          <p:nvPr/>
        </p:nvSpPr>
        <p:spPr>
          <a:xfrm>
            <a:off x="6250200" y="1392029"/>
            <a:ext cx="2727960" cy="2148824"/>
          </a:xfrm>
          <a:custGeom>
            <a:avLst/>
            <a:gdLst/>
            <a:ahLst/>
            <a:cxnLst/>
            <a:rect l="l" t="t" r="r" b="b"/>
            <a:pathLst>
              <a:path w="7358380" h="5530850">
                <a:moveTo>
                  <a:pt x="0" y="0"/>
                </a:moveTo>
                <a:lnTo>
                  <a:pt x="7358380" y="0"/>
                </a:lnTo>
                <a:lnTo>
                  <a:pt x="7358380" y="5530850"/>
                </a:lnTo>
                <a:lnTo>
                  <a:pt x="0" y="553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048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8060BE-8423-C9D9-E89D-B2E79DAB9276}"/>
              </a:ext>
            </a:extLst>
          </p:cNvPr>
          <p:cNvSpPr txBox="1"/>
          <p:nvPr/>
        </p:nvSpPr>
        <p:spPr>
          <a:xfrm>
            <a:off x="6186940" y="3672326"/>
            <a:ext cx="57109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191919"/>
                </a:solidFill>
                <a:ea typeface="Arimo"/>
                <a:cs typeface="Arimo"/>
                <a:sym typeface="Arimo"/>
              </a:rPr>
              <a:t>SAVE algorithm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a typeface="Arimo"/>
                <a:cs typeface="Arimo"/>
                <a:sym typeface="Arimo"/>
              </a:rPr>
              <a:t>enhances endoscopic diagnosis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ea typeface="Arimo"/>
                <a:cs typeface="Arimo"/>
                <a:sym typeface="Arimo"/>
              </a:rPr>
              <a:t> </a:t>
            </a:r>
            <a:r>
              <a:rPr lang="en-US" dirty="0">
                <a:solidFill>
                  <a:srgbClr val="191919"/>
                </a:solidFill>
                <a:ea typeface="Arimo"/>
                <a:cs typeface="Arimo"/>
                <a:sym typeface="Arimo"/>
              </a:rPr>
              <a:t>by converting white light images to informative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a typeface="Arimo"/>
                <a:cs typeface="Arimo"/>
                <a:sym typeface="Arimo"/>
              </a:rPr>
              <a:t>wavelengths</a:t>
            </a:r>
            <a:r>
              <a:rPr lang="en-US" dirty="0">
                <a:solidFill>
                  <a:srgbClr val="616194"/>
                </a:solidFill>
                <a:ea typeface="Arimo"/>
                <a:cs typeface="Arimo"/>
                <a:sym typeface="Arimo"/>
              </a:rPr>
              <a:t>,</a:t>
            </a:r>
            <a:r>
              <a:rPr lang="en-US" dirty="0">
                <a:solidFill>
                  <a:srgbClr val="191919"/>
                </a:solidFill>
                <a:ea typeface="Arimo"/>
                <a:cs typeface="Arimo"/>
                <a:sym typeface="Arimo"/>
              </a:rPr>
              <a:t> improving contrast for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a typeface="Arimo"/>
                <a:cs typeface="Arimo"/>
                <a:sym typeface="Arimo"/>
              </a:rPr>
              <a:t>better tissue and abnormality detection</a:t>
            </a:r>
            <a:r>
              <a:rPr lang="en-US" dirty="0">
                <a:solidFill>
                  <a:srgbClr val="191919"/>
                </a:solidFill>
                <a:ea typeface="Arimo"/>
                <a:cs typeface="Arimo"/>
                <a:sym typeface="Arimo"/>
              </a:rPr>
              <a:t>. It enables medical professionals to make more accurate diagnoses,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a typeface="Arimo"/>
                <a:cs typeface="Arimo"/>
                <a:sym typeface="Arimo"/>
              </a:rPr>
              <a:t>identifying early-stage issues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a typeface="Arimo"/>
                <a:cs typeface="Arimo"/>
                <a:sym typeface="Arimo"/>
              </a:rPr>
              <a:t> </a:t>
            </a:r>
            <a:r>
              <a:rPr lang="en-US" dirty="0">
                <a:solidFill>
                  <a:srgbClr val="191919"/>
                </a:solidFill>
                <a:ea typeface="Arimo"/>
                <a:cs typeface="Arimo"/>
                <a:sym typeface="Arimo"/>
              </a:rPr>
              <a:t>and hidden structures, while reducing the need for invasive interventions, ultimately improving patient outcomes in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a typeface="Arimo"/>
                <a:cs typeface="Arimo"/>
                <a:sym typeface="Arimo"/>
              </a:rPr>
              <a:t>gastroenterology</a:t>
            </a:r>
            <a:r>
              <a:rPr lang="en-US" dirty="0">
                <a:solidFill>
                  <a:srgbClr val="191919"/>
                </a:solidFill>
                <a:ea typeface="Arimo"/>
                <a:cs typeface="Arimo"/>
                <a:sym typeface="Arimo"/>
              </a:rPr>
              <a:t> and other medical specialties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A5AC90-2649-D375-B1CD-683017545124}"/>
              </a:ext>
            </a:extLst>
          </p:cNvPr>
          <p:cNvSpPr txBox="1"/>
          <p:nvPr/>
        </p:nvSpPr>
        <p:spPr>
          <a:xfrm>
            <a:off x="7279170" y="1047823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WLI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280789-B362-83B0-AEE2-277CB3E77D77}"/>
              </a:ext>
            </a:extLst>
          </p:cNvPr>
          <p:cNvSpPr txBox="1"/>
          <p:nvPr/>
        </p:nvSpPr>
        <p:spPr>
          <a:xfrm>
            <a:off x="9881870" y="1071557"/>
            <a:ext cx="1304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SAVE Image</a:t>
            </a:r>
          </a:p>
        </p:txBody>
      </p:sp>
    </p:spTree>
    <p:extLst>
      <p:ext uri="{BB962C8B-B14F-4D97-AF65-F5344CB8AC3E}">
        <p14:creationId xmlns:p14="http://schemas.microsoft.com/office/powerpoint/2010/main" val="675493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FA3A41E2-187F-482F-ADD7-6F61D6D8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5" y="295661"/>
            <a:ext cx="7715250" cy="714375"/>
          </a:xfrm>
        </p:spPr>
        <p:txBody>
          <a:bodyPr/>
          <a:lstStyle/>
          <a:p>
            <a:pPr>
              <a:buNone/>
              <a:defRPr sz="29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30FD1-F63B-4F07-96DD-4DD5B554E5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A75AF6-7B65-4D8A-A47C-533D21F088C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742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543DA9-0922-2E5C-AA20-BB6402FEB8FE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" t="1244" r="38589"/>
          <a:stretch/>
        </p:blipFill>
        <p:spPr bwMode="auto">
          <a:xfrm>
            <a:off x="6090434" y="1063837"/>
            <a:ext cx="5939501" cy="47757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8">
            <a:extLst>
              <a:ext uri="{FF2B5EF4-FFF2-40B4-BE49-F238E27FC236}">
                <a16:creationId xmlns:a16="http://schemas.microsoft.com/office/drawing/2014/main" id="{A38E3840-DB44-027D-4369-2E464BE16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409" y="4269636"/>
            <a:ext cx="5748761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cs typeface="Arial" pitchFamily="34" charset="0"/>
              </a:rPr>
              <a:t>Python (OpenCV, NumPy, scikit-learn) for the SAVE spectral-reconstruction pipeline; CIE XYZ / CIEDE2000 colour science with PCA-based band selection; DL/ML stack – YOLOv3–v11, SSD, Faster R-CNN, CNN, MobileNet, VGG, ResNet, InceptionV3, EfficientNet, SVM, Random Forest, XGBoost/LightGBM; packaged as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Windows desktop CAD application</a:t>
            </a:r>
            <a:r>
              <a:rPr lang="en-US" dirty="0">
                <a:cs typeface="Arial" pitchFamily="34" charset="0"/>
              </a:rPr>
              <a:t>.</a:t>
            </a:r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3B463D24-8216-7574-0DE8-968327B4A746}"/>
              </a:ext>
            </a:extLst>
          </p:cNvPr>
          <p:cNvSpPr/>
          <p:nvPr/>
        </p:nvSpPr>
        <p:spPr>
          <a:xfrm>
            <a:off x="218169" y="1010036"/>
            <a:ext cx="5660001" cy="3259600"/>
          </a:xfrm>
          <a:custGeom>
            <a:avLst/>
            <a:gdLst/>
            <a:ahLst/>
            <a:cxnLst/>
            <a:rect l="l" t="t" r="r" b="b"/>
            <a:pathLst>
              <a:path w="14936494" h="8291278">
                <a:moveTo>
                  <a:pt x="0" y="0"/>
                </a:moveTo>
                <a:lnTo>
                  <a:pt x="14936494" y="0"/>
                </a:lnTo>
                <a:lnTo>
                  <a:pt x="14936494" y="8291278"/>
                </a:lnTo>
                <a:lnTo>
                  <a:pt x="0" y="8291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74D1F18-1C42-C89A-F042-6853CB9557B5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16374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 sz="1275">
                <a:solidFill>
                  <a:srgbClr val="162B3C"/>
                </a:solidFill>
                <a:latin typeface="Arial"/>
                <a:ea typeface="Arial"/>
                <a:cs typeface="Arial"/>
              </a:defRPr>
            </a:pPr>
            <a:r>
              <a:rPr lang="en-IN" sz="1275" b="1" dirty="0">
                <a:solidFill>
                  <a:srgbClr val="162B3C"/>
                </a:solidFill>
                <a:latin typeface="Arial"/>
                <a:cs typeface="Arial"/>
              </a:rPr>
              <a:t>HYPERLUMA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99582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3BF35B51-5E6A-4B20-B81D-3267C22B7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5" y="285750"/>
            <a:ext cx="7715250" cy="714375"/>
          </a:xfrm>
        </p:spPr>
        <p:txBody>
          <a:bodyPr/>
          <a:lstStyle/>
          <a:p>
            <a:pPr>
              <a:buNone/>
              <a:defRPr sz="29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695EC-8808-4611-9CA5-5E249403FC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4715890-73D6-4C98-9040-F39C041119B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16374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 sz="1275">
                <a:solidFill>
                  <a:srgbClr val="162B3C"/>
                </a:solidFill>
                <a:latin typeface="Arial"/>
                <a:ea typeface="Arial"/>
                <a:cs typeface="Arial"/>
              </a:defRPr>
            </a:pPr>
            <a:r>
              <a:rPr lang="en-IN" sz="1275" b="1" dirty="0">
                <a:solidFill>
                  <a:srgbClr val="162B3C"/>
                </a:solidFill>
                <a:latin typeface="Arial"/>
                <a:cs typeface="Arial"/>
              </a:rPr>
              <a:t>HYPERLUMA</a:t>
            </a:r>
            <a:endParaRPr lang="en-IN" b="1" dirty="0"/>
          </a:p>
        </p:txBody>
      </p:sp>
      <p:pic>
        <p:nvPicPr>
          <p:cNvPr id="17427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60A0B4-958C-7F5E-92A2-83EB06366AEA}"/>
              </a:ext>
            </a:extLst>
          </p:cNvPr>
          <p:cNvSpPr txBox="1"/>
          <p:nvPr/>
        </p:nvSpPr>
        <p:spPr>
          <a:xfrm>
            <a:off x="138281" y="1139927"/>
            <a:ext cx="521758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Software-Based Solution</a:t>
            </a:r>
            <a:r>
              <a:rPr lang="en-IN" b="1" dirty="0"/>
              <a:t>:</a:t>
            </a:r>
            <a:r>
              <a:rPr lang="en-IN" dirty="0"/>
              <a:t> No additional NBI hardware is required; SAVE works with existing WLI systems.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Cost-Effective</a:t>
            </a:r>
            <a:r>
              <a:rPr lang="en-IN" b="1" dirty="0"/>
              <a:t>:</a:t>
            </a:r>
            <a:r>
              <a:rPr lang="en-IN" dirty="0"/>
              <a:t> Reduces the need for dedicated NBI equipment and additional clinical infrastructure.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Technically Feasible</a:t>
            </a:r>
            <a:r>
              <a:rPr lang="en-IN" b="1" dirty="0"/>
              <a:t>:</a:t>
            </a:r>
            <a:r>
              <a:rPr lang="en-IN" dirty="0"/>
              <a:t> Uses established technologies including Python, OpenCV, PCA, CIE colour science and deep learning.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Validated Approach</a:t>
            </a:r>
            <a:r>
              <a:rPr lang="en-IN" b="1" dirty="0"/>
              <a:t>:</a:t>
            </a:r>
            <a:r>
              <a:rPr lang="en-IN" dirty="0"/>
              <a:t> Tested on gastrointestinal and </a:t>
            </a:r>
            <a:r>
              <a:rPr lang="en-IN" dirty="0" err="1"/>
              <a:t>esophageal</a:t>
            </a:r>
            <a:r>
              <a:rPr lang="en-IN" dirty="0"/>
              <a:t> datasets from Kaohsiung Medical University.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Easy Deployment</a:t>
            </a:r>
            <a:r>
              <a:rPr lang="en-IN" b="1" dirty="0"/>
              <a:t>:</a:t>
            </a:r>
            <a:r>
              <a:rPr lang="en-IN" dirty="0"/>
              <a:t> Can be packaged as a Windows desktop application for integration into existing clinical workflows.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Scalable</a:t>
            </a:r>
            <a:r>
              <a:rPr lang="en-IN" b="1" dirty="0"/>
              <a:t>:</a:t>
            </a:r>
            <a:r>
              <a:rPr lang="en-IN" dirty="0"/>
              <a:t> More clinical datasets can be incorporated through collaborations with hospitals and medical institutions.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3535C3F-E2A9-0A39-CDFD-FD44927B94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2434"/>
          <a:stretch>
            <a:fillRect/>
          </a:stretch>
        </p:blipFill>
        <p:spPr>
          <a:xfrm>
            <a:off x="5508685" y="1202471"/>
            <a:ext cx="6590327" cy="186584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FB95E47-3509-E691-63A1-62D6423A0A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434" r="892"/>
          <a:stretch>
            <a:fillRect/>
          </a:stretch>
        </p:blipFill>
        <p:spPr>
          <a:xfrm>
            <a:off x="5488367" y="2960151"/>
            <a:ext cx="6600486" cy="188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385A136D-808C-4523-9973-40F0FC34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5" y="285750"/>
            <a:ext cx="7715250" cy="714375"/>
          </a:xfrm>
        </p:spPr>
        <p:txBody>
          <a:bodyPr/>
          <a:lstStyle/>
          <a:p>
            <a:pPr>
              <a:buNone/>
              <a:defRPr sz="29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A76AA-D608-4464-A7BB-833911C968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101969C-9066-420E-ABD9-538353CA757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 sz="1275">
                <a:solidFill>
                  <a:srgbClr val="162B3C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>
                <a:solidFill>
                  <a:srgbClr val="162B3C"/>
                </a:solidFill>
                <a:latin typeface="Arial"/>
                <a:cs typeface="Arial"/>
              </a:rPr>
              <a:t>HYPERLUMA</a:t>
            </a:r>
            <a:endParaRPr lang="en-IN" sz="1400" b="1" dirty="0"/>
          </a:p>
        </p:txBody>
      </p:sp>
      <p:pic>
        <p:nvPicPr>
          <p:cNvPr id="17428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8B0105-96EC-9843-3911-58FB81796AA2}"/>
              </a:ext>
            </a:extLst>
          </p:cNvPr>
          <p:cNvSpPr txBox="1"/>
          <p:nvPr/>
        </p:nvSpPr>
        <p:spPr>
          <a:xfrm>
            <a:off x="299656" y="1272192"/>
            <a:ext cx="579634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Allows early detection of cancer for doctors and patients, which has a significant impact on mortality.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Enables early detection of non-invasive of </a:t>
            </a:r>
            <a:r>
              <a:rPr lang="en-IN" dirty="0" err="1"/>
              <a:t>esophageal</a:t>
            </a:r>
            <a:r>
              <a:rPr lang="en-IN" dirty="0"/>
              <a:t>, skin, bladder, etc cancers for patients in low-resource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Clinically</a:t>
            </a:r>
            <a:r>
              <a:rPr lang="en-IN" dirty="0"/>
              <a:t> : SAVE images consistently improve the detection/classification accuracy over the plain White Light Images. </a:t>
            </a:r>
            <a:br>
              <a:rPr lang="en-IN" dirty="0"/>
            </a:br>
            <a:r>
              <a:rPr lang="en-IN" dirty="0"/>
              <a:t>Ex- 93% for WLI then 97% for SAVE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Social</a:t>
            </a:r>
            <a:r>
              <a:rPr lang="en-IN" dirty="0"/>
              <a:t> : Faster diagnosis, and support for rural /  low resource hospitals lacking with dedicated NBI hardware.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Economic</a:t>
            </a:r>
            <a:r>
              <a:rPr lang="en-IN" dirty="0"/>
              <a:t>: No new hardware required: SAVE is a software which is a upgrade to the existing endoscopic, </a:t>
            </a:r>
            <a:br>
              <a:rPr lang="en-IN" dirty="0"/>
            </a:br>
            <a:r>
              <a:rPr lang="en-IN" dirty="0"/>
              <a:t>infrastructural, lowering the cost of cancer screening.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Educational</a:t>
            </a:r>
            <a:r>
              <a:rPr lang="en-IN" dirty="0"/>
              <a:t>: Good spectral visualization of tissue improves the medical training, simulation and telemedicine </a:t>
            </a:r>
            <a:br>
              <a:rPr lang="en-IN" dirty="0"/>
            </a:br>
            <a:r>
              <a:rPr lang="en-IN" dirty="0"/>
              <a:t>materials.</a:t>
            </a:r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4505BA-20DA-AFFF-011C-970AD1135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979" y="1256327"/>
            <a:ext cx="5392688" cy="23041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B30694-6D47-2289-FB34-D87D7FB78A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835828"/>
            <a:ext cx="5377981" cy="21511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22812B8-6759-0709-0B6E-7FC8A14D3223}"/>
              </a:ext>
            </a:extLst>
          </p:cNvPr>
          <p:cNvSpPr txBox="1"/>
          <p:nvPr/>
        </p:nvSpPr>
        <p:spPr>
          <a:xfrm>
            <a:off x="8034094" y="5987021"/>
            <a:ext cx="17774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 err="1"/>
              <a:t>Esophageal</a:t>
            </a:r>
            <a:r>
              <a:rPr lang="en-IN" sz="1600" b="1" dirty="0"/>
              <a:t> Cancer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FC608-6CD6-3C63-5492-4121E5D85E24}"/>
              </a:ext>
            </a:extLst>
          </p:cNvPr>
          <p:cNvSpPr txBox="1"/>
          <p:nvPr/>
        </p:nvSpPr>
        <p:spPr>
          <a:xfrm>
            <a:off x="8146305" y="3494154"/>
            <a:ext cx="1478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Bladder Cancer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624C4C7E-0E57-48AA-A6C3-70710B8CB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5" y="285750"/>
            <a:ext cx="7715250" cy="714375"/>
          </a:xfrm>
        </p:spPr>
        <p:txBody>
          <a:bodyPr/>
          <a:lstStyle/>
          <a:p>
            <a:pPr>
              <a:buNone/>
              <a:defRPr sz="29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E767-45DE-4141-BE29-B3E9F88BCB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3EF2CE-6A81-46ED-BF6B-A36095E4C62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 dirty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</a:t>
            </a:r>
            <a:endParaRPr sz="1200" b="0" i="0" u="none" kern="1200" cap="none" spc="0" baseline="0" dirty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 sz="1275">
                <a:solidFill>
                  <a:srgbClr val="162B3C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>
                <a:solidFill>
                  <a:srgbClr val="162B3C"/>
                </a:solidFill>
                <a:latin typeface="Arial"/>
                <a:cs typeface="Arial"/>
              </a:rPr>
              <a:t>HYPERLUMA</a:t>
            </a:r>
            <a:endParaRPr lang="en-IN" sz="1400" b="1" dirty="0"/>
          </a:p>
        </p:txBody>
      </p:sp>
      <p:pic>
        <p:nvPicPr>
          <p:cNvPr id="17428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7" name="Rectangle 17416">
            <a:extLst>
              <a:ext uri="{FF2B5EF4-FFF2-40B4-BE49-F238E27FC236}">
                <a16:creationId xmlns:a16="http://schemas.microsoft.com/office/drawing/2014/main" id="{DAB0BF9E-6AE0-451C-9A5E-02AC8C8F7279}"/>
              </a:ext>
            </a:extLst>
          </p:cNvPr>
          <p:cNvSpPr>
            <a:spLocks noGrp="1"/>
          </p:cNvSpPr>
          <p:nvPr/>
        </p:nvSpPr>
        <p:spPr>
          <a:xfrm>
            <a:off x="457200" y="3495675"/>
            <a:ext cx="109537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1">
                <a:solidFill>
                  <a:srgbClr val="214E7D"/>
                </a:solidFill>
                <a:latin typeface="Arial"/>
                <a:ea typeface="Arial"/>
                <a:cs typeface="Arial"/>
              </a:defRPr>
            </a:pPr>
            <a:endParaRPr sz="1800" b="1" dirty="0">
              <a:solidFill>
                <a:srgbClr val="214E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18" name="Rectangle 17417">
            <a:extLst>
              <a:ext uri="{FF2B5EF4-FFF2-40B4-BE49-F238E27FC236}">
                <a16:creationId xmlns:a16="http://schemas.microsoft.com/office/drawing/2014/main" id="{96861F7C-282E-4EF5-B4D9-93A91317550E}"/>
              </a:ext>
            </a:extLst>
          </p:cNvPr>
          <p:cNvSpPr>
            <a:spLocks noGrp="1"/>
          </p:cNvSpPr>
          <p:nvPr/>
        </p:nvSpPr>
        <p:spPr>
          <a:xfrm>
            <a:off x="457200" y="3838575"/>
            <a:ext cx="11049000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162B3C"/>
                </a:solidFill>
                <a:latin typeface="Arial"/>
                <a:ea typeface="Arial"/>
                <a:cs typeface="Arial"/>
              </a:defRPr>
            </a:pPr>
            <a:endParaRPr sz="1650" b="0" dirty="0">
              <a:solidFill>
                <a:srgbClr val="162B3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19" name="Rectangle 17418">
            <a:extLst>
              <a:ext uri="{FF2B5EF4-FFF2-40B4-BE49-F238E27FC236}">
                <a16:creationId xmlns:a16="http://schemas.microsoft.com/office/drawing/2014/main" id="{F9F1107A-DEDF-4867-8B42-6C503F2D94C8}"/>
              </a:ext>
            </a:extLst>
          </p:cNvPr>
          <p:cNvSpPr>
            <a:spLocks noGrp="1"/>
          </p:cNvSpPr>
          <p:nvPr/>
        </p:nvSpPr>
        <p:spPr>
          <a:xfrm>
            <a:off x="457200" y="4333875"/>
            <a:ext cx="109537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1">
                <a:solidFill>
                  <a:srgbClr val="214E7D"/>
                </a:solidFill>
                <a:latin typeface="Arial"/>
                <a:ea typeface="Arial"/>
                <a:cs typeface="Arial"/>
              </a:defRPr>
            </a:pPr>
            <a:endParaRPr sz="1800" b="1" dirty="0">
              <a:solidFill>
                <a:srgbClr val="214E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21" name="Rectangle 17420">
            <a:extLst>
              <a:ext uri="{FF2B5EF4-FFF2-40B4-BE49-F238E27FC236}">
                <a16:creationId xmlns:a16="http://schemas.microsoft.com/office/drawing/2014/main" id="{1144298E-5F41-4578-83ED-86FDF42A4A9E}"/>
              </a:ext>
            </a:extLst>
          </p:cNvPr>
          <p:cNvSpPr>
            <a:spLocks noGrp="1"/>
          </p:cNvSpPr>
          <p:nvPr/>
        </p:nvSpPr>
        <p:spPr>
          <a:xfrm>
            <a:off x="457200" y="5267325"/>
            <a:ext cx="1104900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1">
                <a:solidFill>
                  <a:srgbClr val="214E7D"/>
                </a:solidFill>
                <a:latin typeface="Arial"/>
                <a:ea typeface="Arial"/>
                <a:cs typeface="Arial"/>
              </a:defRPr>
            </a:pPr>
            <a:endParaRPr sz="1800" b="1" dirty="0">
              <a:solidFill>
                <a:srgbClr val="214E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221FB6-1B7F-BE1D-EEA9-5EAAEBC8DDB5}"/>
              </a:ext>
            </a:extLst>
          </p:cNvPr>
          <p:cNvSpPr txBox="1"/>
          <p:nvPr/>
        </p:nvSpPr>
        <p:spPr>
          <a:xfrm>
            <a:off x="329773" y="2906999"/>
            <a:ext cx="55306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chemeClr val="tx1"/>
                </a:solidFill>
                <a:effectLst/>
                <a:latin typeface="+mn-lt"/>
              </a:rPr>
              <a:t>[</a:t>
            </a:r>
            <a:r>
              <a:rPr lang="en-IN" sz="1600" dirty="0"/>
              <a:t>3</a:t>
            </a:r>
            <a:r>
              <a:rPr lang="en-IN" sz="1600" b="0" i="0" dirty="0">
                <a:solidFill>
                  <a:schemeClr val="tx1"/>
                </a:solidFill>
                <a:effectLst/>
                <a:latin typeface="+mn-lt"/>
              </a:rPr>
              <a:t>] </a:t>
            </a:r>
            <a:r>
              <a:rPr lang="en-IN" sz="1600" dirty="0"/>
              <a:t>Su, Chang-Chao, et al. "Capsule endoscopy: Current trends, technological advancements, and future perspectives in gastrointestinal diagnostics." </a:t>
            </a:r>
            <a:r>
              <a:rPr lang="en-IN" sz="1600" i="1" dirty="0"/>
              <a:t>Bioengineering</a:t>
            </a:r>
            <a:r>
              <a:rPr lang="en-IN" sz="1600" dirty="0"/>
              <a:t> 12.6 (2025): 613.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30E75B-C817-7958-6812-1B96F4969881}"/>
              </a:ext>
            </a:extLst>
          </p:cNvPr>
          <p:cNvSpPr txBox="1"/>
          <p:nvPr/>
        </p:nvSpPr>
        <p:spPr>
          <a:xfrm>
            <a:off x="329773" y="1376788"/>
            <a:ext cx="55321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chemeClr val="tx1"/>
                </a:solidFill>
                <a:effectLst/>
                <a:latin typeface="+mn-lt"/>
              </a:rPr>
              <a:t>[1] Li, Bing, et al. "Effect of computer aided detection system on </a:t>
            </a:r>
            <a:r>
              <a:rPr lang="en-IN" sz="1600" b="0" i="0" dirty="0" err="1">
                <a:solidFill>
                  <a:schemeClr val="tx1"/>
                </a:solidFill>
                <a:effectLst/>
                <a:latin typeface="+mn-lt"/>
              </a:rPr>
              <a:t>esophageal</a:t>
            </a:r>
            <a:r>
              <a:rPr lang="en-IN" sz="1600" b="0" i="0" dirty="0">
                <a:solidFill>
                  <a:schemeClr val="tx1"/>
                </a:solidFill>
                <a:effectLst/>
                <a:latin typeface="+mn-lt"/>
              </a:rPr>
              <a:t> neoplasm diagnosis in varied levels of endoscopists." </a:t>
            </a:r>
            <a:r>
              <a:rPr lang="en-IN" sz="1600" b="0" i="1" dirty="0">
                <a:solidFill>
                  <a:schemeClr val="tx1"/>
                </a:solidFill>
                <a:effectLst/>
                <a:latin typeface="+mn-lt"/>
              </a:rPr>
              <a:t>NPJ Digital Medicine</a:t>
            </a:r>
            <a:r>
              <a:rPr lang="en-IN" sz="1600" b="0" i="0" dirty="0">
                <a:solidFill>
                  <a:schemeClr val="tx1"/>
                </a:solidFill>
                <a:effectLst/>
                <a:latin typeface="+mn-lt"/>
              </a:rPr>
              <a:t> 8.1 (2025): 160.</a:t>
            </a:r>
            <a:endParaRPr lang="en-IN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8D061E-C272-6BF0-9FD7-B5D4523D37A9}"/>
              </a:ext>
            </a:extLst>
          </p:cNvPr>
          <p:cNvSpPr txBox="1"/>
          <p:nvPr/>
        </p:nvSpPr>
        <p:spPr>
          <a:xfrm>
            <a:off x="329773" y="2280323"/>
            <a:ext cx="57642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chemeClr val="tx1"/>
                </a:solidFill>
                <a:effectLst/>
                <a:latin typeface="+mn-lt"/>
              </a:rPr>
              <a:t>[2] Siegel, Rebecca L., et al. "Cancer statistics, 2022." </a:t>
            </a:r>
            <a:r>
              <a:rPr lang="en-IN" sz="1600" b="0" i="1" dirty="0">
                <a:solidFill>
                  <a:schemeClr val="tx1"/>
                </a:solidFill>
                <a:effectLst/>
                <a:latin typeface="+mn-lt"/>
              </a:rPr>
              <a:t>CA: a cancer journal for clinicians</a:t>
            </a:r>
            <a:r>
              <a:rPr lang="en-IN" sz="1600" b="0" i="0" dirty="0">
                <a:solidFill>
                  <a:schemeClr val="tx1"/>
                </a:solidFill>
                <a:effectLst/>
                <a:latin typeface="+mn-lt"/>
              </a:rPr>
              <a:t> 72.1 (2022): 7.</a:t>
            </a:r>
            <a:endParaRPr lang="en-IN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62DF05-835A-1501-4489-9E46EAC947D4}"/>
              </a:ext>
            </a:extLst>
          </p:cNvPr>
          <p:cNvSpPr txBox="1"/>
          <p:nvPr/>
        </p:nvSpPr>
        <p:spPr>
          <a:xfrm>
            <a:off x="326322" y="384734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chemeClr val="tx1"/>
                </a:solidFill>
                <a:effectLst/>
                <a:latin typeface="+mn-lt"/>
              </a:rPr>
              <a:t>[4] Wang, Yen-Po, et al. "Spectrum aided vision enhancer enhances mucosal visualization by hyperspectral imaging in capsule endoscopy." </a:t>
            </a:r>
            <a:r>
              <a:rPr lang="en-IN" sz="1600" b="0" i="1" dirty="0">
                <a:solidFill>
                  <a:schemeClr val="tx1"/>
                </a:solidFill>
                <a:effectLst/>
                <a:latin typeface="+mn-lt"/>
              </a:rPr>
              <a:t>Scientific reports</a:t>
            </a:r>
            <a:r>
              <a:rPr lang="en-IN" sz="1600" b="0" i="0" dirty="0">
                <a:solidFill>
                  <a:schemeClr val="tx1"/>
                </a:solidFill>
                <a:effectLst/>
                <a:latin typeface="+mn-lt"/>
              </a:rPr>
              <a:t> 14.1 (2024): 22243.</a:t>
            </a:r>
            <a:endParaRPr lang="en-IN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17087C-41C9-3D8C-946D-DB7A112DEC8A}"/>
              </a:ext>
            </a:extLst>
          </p:cNvPr>
          <p:cNvSpPr txBox="1"/>
          <p:nvPr/>
        </p:nvSpPr>
        <p:spPr>
          <a:xfrm>
            <a:off x="328252" y="472024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cs typeface="Arial" panose="020B0604020202020204" pitchFamily="34" charset="0"/>
              </a:rPr>
              <a:t>[5] Wang, H.-C., Tsao, Y.-M., &amp; Mukundan, A., “Method for Converting Endoscope Images to Narrow Band Images,” U.S. Patent US12602843B2, 2026. </a:t>
            </a:r>
            <a:r>
              <a:rPr lang="en-IN" sz="1600" dirty="0">
                <a:cs typeface="Arial" panose="020B0604020202020204" pitchFamily="34" charset="0"/>
                <a:hlinkClick r:id="rId4"/>
              </a:rPr>
              <a:t>Patent record</a:t>
            </a:r>
            <a:endParaRPr lang="en-IN" sz="1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3091</TotalTime>
  <Words>799</Words>
  <Application>Microsoft Office PowerPoint</Application>
  <DocSecurity>0</DocSecurity>
  <PresentationFormat>Widescreen</PresentationFormat>
  <Paragraphs>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Arimo</vt:lpstr>
      <vt:lpstr>Calibri</vt:lpstr>
      <vt:lpstr>Garamond</vt:lpstr>
      <vt:lpstr>Times New Roman</vt:lpstr>
      <vt:lpstr>TradeGothic</vt:lpstr>
      <vt:lpstr>Office Theme</vt:lpstr>
      <vt:lpstr>SMART INDIA HACKATHON 2026</vt:lpstr>
      <vt:lpstr>SAVE (Spectrum-Aided Vision Enhancer)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Yash Raneja</cp:lastModifiedBy>
  <cp:revision>13</cp:revision>
  <dcterms:created xsi:type="dcterms:W3CDTF">2026-09-08T08:48:08Z</dcterms:created>
  <dcterms:modified xsi:type="dcterms:W3CDTF">2026-09-23T11:41:03Z</dcterms:modified>
</cp:coreProperties>
</file>